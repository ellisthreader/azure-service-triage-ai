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5212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1">
                <a:solidFill>
                  <a:srgbClr val="E6002D"/>
                </a:solidFill>
                <a:latin typeface="Aptos"/>
              </a:defRPr>
            </a:pPr>
            <a:r>
              <a:t>AI / ML ENGINEER INTERVIEW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993392"/>
            <a:ext cx="854964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800" b="1">
                <a:solidFill>
                  <a:srgbClr val="121826"/>
                </a:solidFill>
                <a:latin typeface="Aptos"/>
              </a:defRPr>
            </a:pPr>
            <a:r>
              <a:t>Service Priority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61488"/>
            <a:ext cx="8732520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0">
                <a:solidFill>
                  <a:srgbClr val="4B5563"/>
                </a:solidFill>
                <a:latin typeface="Aptos"/>
              </a:defRPr>
            </a:pPr>
            <a:r>
              <a:t>Responsible Azure MLOps for public-service case prioritisation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3977639"/>
            <a:ext cx="2788920" cy="36576"/>
          </a:xfrm>
          <a:prstGeom prst="rect">
            <a:avLst/>
          </a:prstGeom>
          <a:solidFill>
            <a:srgbClr val="E6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828032"/>
            <a:ext cx="44805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121826"/>
                </a:solidFill>
                <a:latin typeface="Aptos"/>
              </a:defRPr>
            </a:pPr>
            <a:r>
              <a:t>Ellis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193792"/>
            <a:ext cx="49377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 b="0">
                <a:solidFill>
                  <a:srgbClr val="6B7280"/>
                </a:solidFill>
                <a:latin typeface="Aptos"/>
              </a:defRPr>
            </a:pPr>
            <a:r>
              <a:t>30 June 2026 | Virtual interview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355080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19" b="0">
                <a:solidFill>
                  <a:srgbClr val="6B7280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029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1">
                <a:solidFill>
                  <a:srgbClr val="E6002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"/>
            <a:ext cx="768096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21826"/>
                </a:solidFill>
                <a:latin typeface="Aptos"/>
              </a:defRPr>
            </a:pPr>
            <a:r>
              <a:t>Context And My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74980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80" b="0">
                <a:solidFill>
                  <a:srgbClr val="6B7280"/>
                </a:solidFill>
                <a:latin typeface="Aptos"/>
              </a:defRPr>
            </a:pPr>
            <a:r>
              <a:t>Why the system exists, who uses it, and what I personally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1173968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urrent-home.png"/>
          <p:cNvPicPr>
            <a:picLocks noChangeAspect="1"/>
          </p:cNvPicPr>
          <p:nvPr/>
        </p:nvPicPr>
        <p:blipFill>
          <a:blip r:embed="rId2"/>
          <a:srcRect l="3704" r="3704"/>
          <a:stretch>
            <a:fillRect/>
          </a:stretch>
        </p:blipFill>
        <p:spPr>
          <a:xfrm>
            <a:off x="6537960" y="1417320"/>
            <a:ext cx="4572000" cy="3429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37960" y="1417320"/>
            <a:ext cx="4572000" cy="3429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2743200" cy="41605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17320"/>
            <a:ext cx="2743200" cy="36576"/>
          </a:xfrm>
          <a:prstGeom prst="rect">
            <a:avLst/>
          </a:prstGeom>
          <a:solidFill>
            <a:srgbClr val="E6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581912"/>
            <a:ext cx="234086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20" b="1">
                <a:solidFill>
                  <a:srgbClr val="121826"/>
                </a:solidFill>
                <a:latin typeface="Aptos"/>
              </a:defRPr>
            </a:pPr>
            <a:r>
              <a:t>Business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929384"/>
            <a:ext cx="2331720" cy="3538727"/>
          </a:xfrm>
          <a:prstGeom prst="rect">
            <a:avLst/>
          </a:prstGeom>
          <a:noFill/>
        </p:spPr>
        <p:txBody>
          <a:bodyPr wrap="square" lIns="0" rIns="45720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Urgent cases can be hidden in mixed service queues.</a:t>
            </a:r>
          </a:p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Officers need consistent triage support, not an automated decision maker.</a:t>
            </a:r>
          </a:p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Managers need visibility of risk, demand, overrides, and model behaviour.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417320"/>
            <a:ext cx="2651760" cy="41605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80" y="1417320"/>
            <a:ext cx="26517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13048" y="1581912"/>
            <a:ext cx="224942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20" b="1">
                <a:solidFill>
                  <a:srgbClr val="121826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1929384"/>
            <a:ext cx="2240279" cy="3538727"/>
          </a:xfrm>
          <a:prstGeom prst="rect">
            <a:avLst/>
          </a:prstGeom>
          <a:noFill/>
        </p:spPr>
        <p:txBody>
          <a:bodyPr wrap="square" lIns="0" rIns="45720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Case officers reviewing service requests.</a:t>
            </a:r>
          </a:p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Service managers monitoring queues and exceptions.</a:t>
            </a:r>
          </a:p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Information Governance and responsible AI reviewers.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5102352"/>
            <a:ext cx="45720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7960" y="5102352"/>
            <a:ext cx="45720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39128" y="5266944"/>
            <a:ext cx="4169663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20" b="1">
                <a:solidFill>
                  <a:srgbClr val="121826"/>
                </a:solidFill>
                <a:latin typeface="Aptos"/>
              </a:defRPr>
            </a:pPr>
            <a:r>
              <a:t>My contribution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5614416"/>
            <a:ext cx="4160520" cy="155447"/>
          </a:xfrm>
          <a:prstGeom prst="rect">
            <a:avLst/>
          </a:prstGeom>
          <a:noFill/>
        </p:spPr>
        <p:txBody>
          <a:bodyPr wrap="square" lIns="0" rIns="45720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Designed and built the ML lifecycle, API boundary, Azure deployment assets, monitoring outputs, and governance documentation.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9672"/>
            <a:ext cx="69494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19" b="0">
                <a:solidFill>
                  <a:srgbClr val="6B7280"/>
                </a:solidFill>
                <a:latin typeface="Aptos"/>
              </a:defRPr>
            </a:pPr>
            <a:r>
              <a:t>Service Priority AI | Azure MLOps interview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967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19" b="0">
                <a:solidFill>
                  <a:srgbClr val="6B728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029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1">
                <a:solidFill>
                  <a:srgbClr val="E6002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"/>
            <a:ext cx="768096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21826"/>
                </a:solidFill>
                <a:latin typeface="Aptos"/>
              </a:defRPr>
            </a:pPr>
            <a:r>
              <a:t>Data And Real-World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74980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80" b="0">
                <a:solidFill>
                  <a:srgbClr val="6B7280"/>
                </a:solidFill>
                <a:latin typeface="Aptos"/>
              </a:defRPr>
            </a:pPr>
            <a:r>
              <a:t>The data was useful for proving the pattern, but the risks are the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1173968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325880"/>
            <a:ext cx="2057400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435607"/>
            <a:ext cx="176479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 b="1">
                <a:solidFill>
                  <a:srgbClr val="6B7280"/>
                </a:solidFill>
                <a:latin typeface="Aptos"/>
              </a:defRPr>
            </a:pPr>
            <a:r>
              <a:t>TRAINING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636776"/>
            <a:ext cx="1764792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100" b="1">
                <a:solidFill>
                  <a:srgbClr val="152C4E"/>
                </a:solidFill>
                <a:latin typeface="Aptos"/>
              </a:defRPr>
            </a:pPr>
            <a:r>
              <a:t>20k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993391"/>
            <a:ext cx="176479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synthetic service cases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325880"/>
            <a:ext cx="2057400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72384" y="1435607"/>
            <a:ext cx="176479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 b="1">
                <a:solidFill>
                  <a:srgbClr val="6B7280"/>
                </a:solidFill>
                <a:latin typeface="Aptos"/>
              </a:defRPr>
            </a:pPr>
            <a:r>
              <a:t>VALIDATION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384" y="1636776"/>
            <a:ext cx="1764792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100" b="1">
                <a:solidFill>
                  <a:srgbClr val="2563EB"/>
                </a:solidFill>
                <a:latin typeface="Aptos"/>
              </a:defRPr>
            </a:pPr>
            <a:r>
              <a:t>5k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2384" y="1993391"/>
            <a:ext cx="176479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hold-out evaluation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93792" y="1325880"/>
            <a:ext cx="2057400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0096" y="1435607"/>
            <a:ext cx="176479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 b="1">
                <a:solidFill>
                  <a:srgbClr val="6B7280"/>
                </a:solidFill>
                <a:latin typeface="Aptos"/>
              </a:defRPr>
            </a:pPr>
            <a:r>
              <a:t>DECISION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636776"/>
            <a:ext cx="1764792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100" b="1">
                <a:solidFill>
                  <a:srgbClr val="E6002D"/>
                </a:solidFill>
                <a:latin typeface="Aptos"/>
              </a:defRPr>
            </a:pPr>
            <a:r>
              <a:t>Advisory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1993391"/>
            <a:ext cx="176479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human review required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697480"/>
            <a:ext cx="3337560" cy="2670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697480"/>
            <a:ext cx="33375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2862072"/>
            <a:ext cx="293522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20" b="1">
                <a:solidFill>
                  <a:srgbClr val="121826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3209544"/>
            <a:ext cx="2926079" cy="2048255"/>
          </a:xfrm>
          <a:prstGeom prst="rect">
            <a:avLst/>
          </a:prstGeom>
          <a:noFill/>
        </p:spPr>
        <p:txBody>
          <a:bodyPr wrap="square" lIns="0" rIns="45720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Service type, SLA, district, channel, days open, previous contacts.</a:t>
            </a:r>
          </a:p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Vulnerability flag, deprivation band, accessibility need.</a:t>
            </a:r>
          </a:p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Urgency notes transformed with explainable text features.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24528" y="2697480"/>
            <a:ext cx="3337560" cy="2670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24528" y="2697480"/>
            <a:ext cx="3337560" cy="36576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25696" y="2862072"/>
            <a:ext cx="293522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20" b="1">
                <a:solidFill>
                  <a:srgbClr val="121826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5696" y="3209544"/>
            <a:ext cx="2926079" cy="2048255"/>
          </a:xfrm>
          <a:prstGeom prst="rect">
            <a:avLst/>
          </a:prstGeom>
          <a:noFill/>
        </p:spPr>
        <p:txBody>
          <a:bodyPr wrap="square" lIns="0" rIns="45720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Synthetic labels do not prove live resident-service performance.</a:t>
            </a:r>
          </a:p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Real notes would be sensitive, noisy, incomplete, and unevenly written.</a:t>
            </a:r>
          </a:p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Vulnerability and deprivation can create proxy-risk concerns.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90688" y="2697480"/>
            <a:ext cx="3337560" cy="2670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90688" y="2697480"/>
            <a:ext cx="333756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91856" y="2862072"/>
            <a:ext cx="293522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20" b="1">
                <a:solidFill>
                  <a:srgbClr val="121826"/>
                </a:solidFill>
                <a:latin typeface="Aptos"/>
              </a:defRPr>
            </a:pPr>
            <a:r>
              <a:t>Controls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91856" y="3209544"/>
            <a:ext cx="2926079" cy="2048255"/>
          </a:xfrm>
          <a:prstGeom prst="rect">
            <a:avLst/>
          </a:prstGeom>
          <a:noFill/>
        </p:spPr>
        <p:txBody>
          <a:bodyPr wrap="square" lIns="0" rIns="45720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DPIA-lite, model card, responsible AI assessment.</a:t>
            </a:r>
          </a:p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No raw real resident data in the demo.</a:t>
            </a:r>
          </a:p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Fairness slices, drift review, override monitoring, and human accountability.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9672"/>
            <a:ext cx="69494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19" b="0">
                <a:solidFill>
                  <a:srgbClr val="6B7280"/>
                </a:solidFill>
                <a:latin typeface="Aptos"/>
              </a:defRPr>
            </a:pPr>
            <a:r>
              <a:t>Service Priority AI | Azure MLOps interview presentation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1967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19" b="0">
                <a:solidFill>
                  <a:srgbClr val="6B7280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029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1">
                <a:solidFill>
                  <a:srgbClr val="E6002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"/>
            <a:ext cx="768096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21826"/>
                </a:solidFill>
                <a:latin typeface="Aptos"/>
              </a:defRPr>
            </a:pPr>
            <a:r>
              <a:t>Model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74980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80" b="0">
                <a:solidFill>
                  <a:srgbClr val="6B7280"/>
                </a:solidFill>
                <a:latin typeface="Aptos"/>
              </a:defRPr>
            </a:pPr>
            <a:r>
              <a:t>Transparent baseline first, because missed urgent cases are the service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1173968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ve-case-details.png"/>
          <p:cNvPicPr>
            <a:picLocks noChangeAspect="1"/>
          </p:cNvPicPr>
          <p:nvPr/>
        </p:nvPicPr>
        <p:blipFill>
          <a:blip r:embed="rId2"/>
          <a:srcRect l="3553" r="3553"/>
          <a:stretch>
            <a:fillRect/>
          </a:stretch>
        </p:blipFill>
        <p:spPr>
          <a:xfrm>
            <a:off x="6400800" y="1325880"/>
            <a:ext cx="4709160" cy="3520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1325880"/>
            <a:ext cx="4709160" cy="352044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489204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1">
                <a:solidFill>
                  <a:srgbClr val="121826"/>
                </a:solidFill>
                <a:latin typeface="Aptos"/>
              </a:defRPr>
            </a:pPr>
            <a:r>
              <a:t>Baseline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828800"/>
            <a:ext cx="4937760" cy="1325880"/>
          </a:xfrm>
          <a:prstGeom prst="rect">
            <a:avLst/>
          </a:prstGeom>
          <a:noFill/>
        </p:spPr>
        <p:txBody>
          <a:bodyPr wrap="square" lIns="0" rIns="45720">
            <a:spAutoFit/>
          </a:bodyPr>
          <a:lstStyle/>
          <a:p>
            <a:pPr>
              <a:spcAft>
                <a:spcPts val="500"/>
              </a:spcAft>
              <a:defRPr sz="1420">
                <a:solidFill>
                  <a:srgbClr val="4B5563"/>
                </a:solidFill>
                <a:latin typeface="Aptos"/>
              </a:defRPr>
            </a:pPr>
            <a:r>
              <a:t>scikit-learn LogisticRegression pipeline.</a:t>
            </a:r>
          </a:p>
          <a:p>
            <a:pPr>
              <a:spcAft>
                <a:spcPts val="500"/>
              </a:spcAft>
              <a:defRPr sz="1420">
                <a:solidFill>
                  <a:srgbClr val="4B5563"/>
                </a:solidFill>
                <a:latin typeface="Aptos"/>
              </a:defRPr>
            </a:pPr>
            <a:r>
              <a:t>ColumnTransformer over categorical, numeric, boolean, and TF-IDF text features.</a:t>
            </a:r>
          </a:p>
          <a:p>
            <a:pPr>
              <a:spcAft>
                <a:spcPts val="500"/>
              </a:spcAft>
              <a:defRPr sz="1420">
                <a:solidFill>
                  <a:srgbClr val="4B5563"/>
                </a:solidFill>
                <a:latin typeface="Aptos"/>
              </a:defRPr>
            </a:pPr>
            <a:r>
              <a:t>Chosen for repeatability, explainability, and public-sector accountability.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520440"/>
            <a:ext cx="1554480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630168"/>
            <a:ext cx="126187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 b="1">
                <a:solidFill>
                  <a:srgbClr val="6B7280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831336"/>
            <a:ext cx="1261872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100" b="1">
                <a:solidFill>
                  <a:srgbClr val="2563EB"/>
                </a:solidFill>
                <a:latin typeface="Aptos"/>
              </a:defRPr>
            </a:pPr>
            <a:r>
              <a:t>90.2%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187952"/>
            <a:ext cx="126187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95728" y="3520440"/>
            <a:ext cx="1554480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42032" y="3630168"/>
            <a:ext cx="126187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 b="1">
                <a:solidFill>
                  <a:srgbClr val="6B7280"/>
                </a:solidFill>
                <a:latin typeface="Aptos"/>
              </a:defRPr>
            </a:pPr>
            <a:r>
              <a:t>MACRO 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3831336"/>
            <a:ext cx="1261872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100" b="1">
                <a:solidFill>
                  <a:srgbClr val="059669"/>
                </a:solidFill>
                <a:latin typeface="Aptos"/>
              </a:defRPr>
            </a:pPr>
            <a:r>
              <a:t>90.35%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4187952"/>
            <a:ext cx="126187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balanced 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33087" y="3520440"/>
            <a:ext cx="1554480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9392" y="3630168"/>
            <a:ext cx="126187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 b="1">
                <a:solidFill>
                  <a:srgbClr val="6B7280"/>
                </a:solidFill>
                <a:latin typeface="Aptos"/>
              </a:defRPr>
            </a:pPr>
            <a:r>
              <a:t>HIGH 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9392" y="3831336"/>
            <a:ext cx="1261872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100" b="1">
                <a:solidFill>
                  <a:srgbClr val="E6002D"/>
                </a:solidFill>
                <a:latin typeface="Aptos"/>
              </a:defRPr>
            </a:pPr>
            <a:r>
              <a:t>94.08%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9392" y="4187952"/>
            <a:ext cx="126187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harm-oriented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645152"/>
            <a:ext cx="5029200" cy="129844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645152"/>
            <a:ext cx="5029200" cy="36576"/>
          </a:xfrm>
          <a:prstGeom prst="rect">
            <a:avLst/>
          </a:prstGeom>
          <a:solidFill>
            <a:srgbClr val="15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809744"/>
            <a:ext cx="462686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20" b="1">
                <a:solidFill>
                  <a:srgbClr val="121826"/>
                </a:solidFill>
                <a:latin typeface="Aptos"/>
              </a:defRPr>
            </a:pPr>
            <a:r>
              <a:t>Validation checks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5157216"/>
            <a:ext cx="4617720" cy="676655"/>
          </a:xfrm>
          <a:prstGeom prst="rect">
            <a:avLst/>
          </a:prstGeom>
          <a:noFill/>
        </p:spPr>
        <p:txBody>
          <a:bodyPr wrap="square" lIns="0" rIns="45720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Hold-out metrics, confusion matrix, class recall, confidence review, fairness slices.</a:t>
            </a:r>
          </a:p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High-priority recall gate passed; fairness remains review_required.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9672"/>
            <a:ext cx="69494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19" b="0">
                <a:solidFill>
                  <a:srgbClr val="6B7280"/>
                </a:solidFill>
                <a:latin typeface="Aptos"/>
              </a:defRPr>
            </a:pPr>
            <a:r>
              <a:t>Service Priority AI | Azure MLOps interview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1967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19" b="0">
                <a:solidFill>
                  <a:srgbClr val="6B7280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029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1">
                <a:solidFill>
                  <a:srgbClr val="E6002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"/>
            <a:ext cx="768096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Azure Architecture And Service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74980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80" b="0">
                <a:solidFill>
                  <a:srgbClr val="CBD5E1"/>
                </a:solidFill>
                <a:latin typeface="Aptos"/>
              </a:defRPr>
            </a:pPr>
            <a:r>
              <a:t>Governed serving path with online and batch scoring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1173968" cy="13716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325880" cy="85953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240">
            <a:solidFill>
              <a:srgbClr val="E6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536192"/>
            <a:ext cx="110642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50" b="1">
                <a:solidFill>
                  <a:srgbClr val="121826"/>
                </a:solidFill>
                <a:latin typeface="Aptos"/>
              </a:defRPr>
            </a:pPr>
            <a:r>
              <a:t>Synthetic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1856232"/>
            <a:ext cx="1069848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80" b="0">
                <a:solidFill>
                  <a:srgbClr val="4B5563"/>
                </a:solidFill>
                <a:latin typeface="Aptos"/>
              </a:defRPr>
            </a:pPr>
            <a:r>
              <a:t>approved demo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417320"/>
            <a:ext cx="1325880" cy="85953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41448" y="1536192"/>
            <a:ext cx="110642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50" b="1">
                <a:solidFill>
                  <a:srgbClr val="121826"/>
                </a:solidFill>
                <a:latin typeface="Aptos"/>
              </a:defRPr>
            </a:pPr>
            <a:r>
              <a:t>Azure ML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9736" y="1856232"/>
            <a:ext cx="1069848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80" b="0">
                <a:solidFill>
                  <a:srgbClr val="4B5563"/>
                </a:solidFill>
                <a:latin typeface="Aptos"/>
              </a:defRPr>
            </a:pPr>
            <a:r>
              <a:t>train / evaluate / gate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1417320"/>
            <a:ext cx="1325880" cy="85953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87368" y="1536192"/>
            <a:ext cx="110642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50" b="1">
                <a:solidFill>
                  <a:srgbClr val="121826"/>
                </a:solidFill>
                <a:latin typeface="Aptos"/>
              </a:defRPr>
            </a:pPr>
            <a:r>
              <a:t>Model registry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05655" y="1856232"/>
            <a:ext cx="1069848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80" b="0">
                <a:solidFill>
                  <a:srgbClr val="4B5563"/>
                </a:solidFill>
                <a:latin typeface="Aptos"/>
              </a:defRPr>
            </a:pPr>
            <a:r>
              <a:t>versioned artifact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1417320"/>
            <a:ext cx="1463040" cy="85953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33288" y="1536192"/>
            <a:ext cx="124358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50" b="1">
                <a:solidFill>
                  <a:srgbClr val="121826"/>
                </a:solidFill>
                <a:latin typeface="Aptos"/>
              </a:defRPr>
            </a:pPr>
            <a:r>
              <a:t>Online endpoint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51576" y="1856232"/>
            <a:ext cx="1207008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80" b="0">
                <a:solidFill>
                  <a:srgbClr val="4B5563"/>
                </a:solidFill>
                <a:latin typeface="Aptos"/>
              </a:defRPr>
            </a:pPr>
            <a:r>
              <a:t>real-time scoring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1417320"/>
            <a:ext cx="1600200" cy="85953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24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1536192"/>
            <a:ext cx="138074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50" b="1">
                <a:solidFill>
                  <a:srgbClr val="121826"/>
                </a:solidFill>
                <a:latin typeface="Aptos"/>
              </a:defRPr>
            </a:pPr>
            <a:r>
              <a:t>FastAPI wrapper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0376" y="1856232"/>
            <a:ext cx="1344168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80" b="0">
                <a:solidFill>
                  <a:srgbClr val="4B5563"/>
                </a:solidFill>
                <a:latin typeface="Aptos"/>
              </a:defRPr>
            </a:pPr>
            <a:r>
              <a:t>validation + audit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1417320"/>
            <a:ext cx="1325880" cy="85953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240">
            <a:solidFill>
              <a:srgbClr val="E6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82328" y="1536192"/>
            <a:ext cx="110642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50" b="1">
                <a:solidFill>
                  <a:srgbClr val="121826"/>
                </a:solidFill>
                <a:latin typeface="Aptos"/>
              </a:defRPr>
            </a:pPr>
            <a:r>
              <a:t>React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0616" y="1856232"/>
            <a:ext cx="1069848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80" b="0">
                <a:solidFill>
                  <a:srgbClr val="4B5563"/>
                </a:solidFill>
                <a:latin typeface="Aptos"/>
              </a:defRPr>
            </a:pPr>
            <a:r>
              <a:t>officer workflow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011680" y="1847088"/>
            <a:ext cx="320040" cy="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657600" y="1847088"/>
            <a:ext cx="320039" cy="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03520" y="1847088"/>
            <a:ext cx="320040" cy="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086600" y="1847088"/>
            <a:ext cx="365760" cy="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052560" y="1847088"/>
            <a:ext cx="320040" cy="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623560" y="2862072"/>
            <a:ext cx="1463040" cy="85953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33288" y="2980944"/>
            <a:ext cx="124358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50" b="1">
                <a:solidFill>
                  <a:srgbClr val="121826"/>
                </a:solidFill>
                <a:latin typeface="Aptos"/>
              </a:defRPr>
            </a:pPr>
            <a:r>
              <a:t>Batch endpoint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51576" y="3300984"/>
            <a:ext cx="1207008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80" b="0">
                <a:solidFill>
                  <a:srgbClr val="4B5563"/>
                </a:solidFill>
                <a:latin typeface="Aptos"/>
              </a:defRPr>
            </a:pPr>
            <a:r>
              <a:t>offline review queues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52360" y="2862072"/>
            <a:ext cx="1600200" cy="85953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24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62088" y="2980944"/>
            <a:ext cx="138074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50" b="1">
                <a:solidFill>
                  <a:srgbClr val="121826"/>
                </a:solidFill>
                <a:latin typeface="Aptos"/>
              </a:defRPr>
            </a:pPr>
            <a:r>
              <a:t>Audit store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0376" y="3300984"/>
            <a:ext cx="1344168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80" b="0">
                <a:solidFill>
                  <a:srgbClr val="4B5563"/>
                </a:solidFill>
                <a:latin typeface="Aptos"/>
              </a:defRPr>
            </a:pPr>
            <a:r>
              <a:t>decisions + overrides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72600" y="2862072"/>
            <a:ext cx="1325880" cy="85953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82328" y="2980944"/>
            <a:ext cx="110642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50" b="1">
                <a:solidFill>
                  <a:srgbClr val="121826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0616" y="3300984"/>
            <a:ext cx="1069848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80" b="0">
                <a:solidFill>
                  <a:srgbClr val="4B5563"/>
                </a:solidFill>
                <a:latin typeface="Aptos"/>
              </a:defRPr>
            </a:pPr>
            <a:r>
              <a:t>monitoring review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355080" y="2286000"/>
            <a:ext cx="0" cy="576072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086600" y="3291840"/>
            <a:ext cx="365760" cy="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052560" y="3291840"/>
            <a:ext cx="320040" cy="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85800" y="4526280"/>
            <a:ext cx="31546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85800" y="4526280"/>
            <a:ext cx="3154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968" y="4690872"/>
            <a:ext cx="27523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20" b="1">
                <a:solidFill>
                  <a:srgbClr val="121826"/>
                </a:solidFill>
                <a:latin typeface="Aptos"/>
              </a:defRPr>
            </a:pPr>
            <a:r>
              <a:t>Why Azure ML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" y="5038344"/>
            <a:ext cx="2743200" cy="475487"/>
          </a:xfrm>
          <a:prstGeom prst="rect">
            <a:avLst/>
          </a:prstGeom>
          <a:noFill/>
        </p:spPr>
        <p:txBody>
          <a:bodyPr wrap="square" lIns="0" rIns="45720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Pipelines, pinned environments, registry, managed endpoints, traffic control, and reproducibility.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60520" y="4526280"/>
            <a:ext cx="31546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60520" y="4526280"/>
            <a:ext cx="3154680" cy="36576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61688" y="4690872"/>
            <a:ext cx="27523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20" b="1">
                <a:solidFill>
                  <a:srgbClr val="121826"/>
                </a:solidFill>
                <a:latin typeface="Aptos"/>
              </a:defRPr>
            </a:pPr>
            <a:r>
              <a:t>Why API wrapper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61688" y="5038344"/>
            <a:ext cx="2743200" cy="475487"/>
          </a:xfrm>
          <a:prstGeom prst="rect">
            <a:avLst/>
          </a:prstGeom>
          <a:noFill/>
        </p:spPr>
        <p:txBody>
          <a:bodyPr wrap="square" lIns="0" rIns="45720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Browser never handles Azure ML endpoint secrets; the API centralises validation, logging, and audit.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35240" y="4526280"/>
            <a:ext cx="31546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4526280"/>
            <a:ext cx="315468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36408" y="4690872"/>
            <a:ext cx="27523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20" b="1">
                <a:solidFill>
                  <a:srgbClr val="121826"/>
                </a:solidFill>
                <a:latin typeface="Aptos"/>
              </a:defRPr>
            </a:pPr>
            <a:r>
              <a:t>Why batch scoring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36408" y="5038344"/>
            <a:ext cx="2743200" cy="475487"/>
          </a:xfrm>
          <a:prstGeom prst="rect">
            <a:avLst/>
          </a:prstGeom>
          <a:noFill/>
        </p:spPr>
        <p:txBody>
          <a:bodyPr wrap="square" lIns="0" rIns="45720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Supports scheduled review queues, monitoring backfills, and retrospective evaluation.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519672"/>
            <a:ext cx="69494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19" b="0">
                <a:solidFill>
                  <a:srgbClr val="CBD5E1"/>
                </a:solidFill>
                <a:latin typeface="Aptos"/>
              </a:defRPr>
            </a:pPr>
            <a:r>
              <a:t>Service Priority AI | Azure MLOps interview presentation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5680" y="651967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19" b="0">
                <a:solidFill>
                  <a:srgbClr val="CBD5E1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029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1">
                <a:solidFill>
                  <a:srgbClr val="E6002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"/>
            <a:ext cx="768096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21826"/>
                </a:solidFill>
                <a:latin typeface="Aptos"/>
              </a:defRPr>
            </a:pPr>
            <a:r>
              <a:t>Production Safety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74980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80" b="0">
                <a:solidFill>
                  <a:srgbClr val="6B7280"/>
                </a:solidFill>
                <a:latin typeface="Aptos"/>
              </a:defRPr>
            </a:pPr>
            <a:r>
              <a:t>The system is designed to be supportable before it is impressive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1173968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ve-signed-in.png"/>
          <p:cNvPicPr>
            <a:picLocks noChangeAspect="1"/>
          </p:cNvPicPr>
          <p:nvPr/>
        </p:nvPicPr>
        <p:blipFill>
          <a:blip r:embed="rId2"/>
          <a:srcRect t="2000" b="2000"/>
          <a:stretch>
            <a:fillRect/>
          </a:stretch>
        </p:blipFill>
        <p:spPr>
          <a:xfrm>
            <a:off x="658368" y="1325880"/>
            <a:ext cx="5349240" cy="3566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1325880"/>
            <a:ext cx="5349240" cy="356616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325880"/>
            <a:ext cx="2331720" cy="3566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325880"/>
            <a:ext cx="23317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490472"/>
            <a:ext cx="192938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20" b="1">
                <a:solidFill>
                  <a:srgbClr val="121826"/>
                </a:solidFill>
                <a:latin typeface="Aptos"/>
              </a:defRPr>
            </a:pPr>
            <a:r>
              <a:t>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1837943"/>
            <a:ext cx="1920239" cy="2944368"/>
          </a:xfrm>
          <a:prstGeom prst="rect">
            <a:avLst/>
          </a:prstGeom>
          <a:noFill/>
        </p:spPr>
        <p:txBody>
          <a:bodyPr wrap="square" lIns="0" rIns="45720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Typed FastAPI and Pydantic contracts.</a:t>
            </a:r>
          </a:p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Backend tests, frontend build check, local validation script.</a:t>
            </a:r>
          </a:p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Versioned artifacts, registry tags, and model metadata.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1325880"/>
            <a:ext cx="2331720" cy="35661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5400" y="1325880"/>
            <a:ext cx="2331720" cy="36576"/>
          </a:xfrm>
          <a:prstGeom prst="rect">
            <a:avLst/>
          </a:prstGeom>
          <a:solidFill>
            <a:srgbClr val="E6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16568" y="1490472"/>
            <a:ext cx="192938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20" b="1">
                <a:solidFill>
                  <a:srgbClr val="121826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16568" y="1837943"/>
            <a:ext cx="1920239" cy="2944368"/>
          </a:xfrm>
          <a:prstGeom prst="rect">
            <a:avLst/>
          </a:prstGeom>
          <a:noFill/>
        </p:spPr>
        <p:txBody>
          <a:bodyPr wrap="square" lIns="0" rIns="45720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Model card, DPIA-lite, responsible AI assessment.</a:t>
            </a:r>
          </a:p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Human review, override reasons, and audit trail.</a:t>
            </a:r>
          </a:p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Fairness status remains review_required before real deployment.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175504"/>
            <a:ext cx="10588752" cy="676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5175504"/>
            <a:ext cx="10588752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340096"/>
            <a:ext cx="1018641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20" b="1">
                <a:solidFill>
                  <a:srgbClr val="121826"/>
                </a:solidFill>
                <a:latin typeface="Aptos"/>
              </a:defRPr>
            </a:pPr>
            <a:r>
              <a:t>Operational 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687568"/>
            <a:ext cx="10177272" cy="54863"/>
          </a:xfrm>
          <a:prstGeom prst="rect">
            <a:avLst/>
          </a:prstGeom>
          <a:noFill/>
        </p:spPr>
        <p:txBody>
          <a:bodyPr wrap="square" lIns="0" rIns="45720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Azure Table Storage audit pattern, Application Insights/Azure Monitor health signals, endpoint rollback by traffic/deployment, small compute, scale-to-zero, and monthly budget alerts.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9672"/>
            <a:ext cx="69494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19" b="0">
                <a:solidFill>
                  <a:srgbClr val="6B7280"/>
                </a:solidFill>
                <a:latin typeface="Aptos"/>
              </a:defRPr>
            </a:pPr>
            <a:r>
              <a:t>Service Priority AI | Azure MLOps interview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967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19" b="0">
                <a:solidFill>
                  <a:srgbClr val="6B728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029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1">
                <a:solidFill>
                  <a:srgbClr val="E6002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"/>
            <a:ext cx="768096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21826"/>
                </a:solidFill>
                <a:latin typeface="Aptos"/>
              </a:defRPr>
            </a:pPr>
            <a:r>
              <a:t>Monitoring, Incident And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74980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80" b="0">
                <a:solidFill>
                  <a:srgbClr val="6B7280"/>
                </a:solidFill>
                <a:latin typeface="Aptos"/>
              </a:defRPr>
            </a:pPr>
            <a:r>
              <a:t>How I would know the service was degrading and what changed after a rollout issue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1173968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325880"/>
            <a:ext cx="3246120" cy="4251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325880"/>
            <a:ext cx="32461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490472"/>
            <a:ext cx="284378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20" b="1">
                <a:solidFill>
                  <a:srgbClr val="121826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837943"/>
            <a:ext cx="2834639" cy="3630168"/>
          </a:xfrm>
          <a:prstGeom prst="rect">
            <a:avLst/>
          </a:prstGeom>
          <a:noFill/>
        </p:spPr>
        <p:txBody>
          <a:bodyPr wrap="square" lIns="0" rIns="45720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API health, request volume, error rate, p95 latency, model-loaded state.</a:t>
            </a:r>
          </a:p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Class mix, confidence, low-confidence rate, explanation coverage.</a:t>
            </a:r>
          </a:p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Drift, fairness slices, high-priority recall, audit completeness, and overrides.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325880"/>
            <a:ext cx="3246120" cy="4251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325880"/>
            <a:ext cx="3246120" cy="36576"/>
          </a:xfrm>
          <a:prstGeom prst="rect">
            <a:avLst/>
          </a:prstGeom>
          <a:solidFill>
            <a:srgbClr val="E6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5696" y="1490472"/>
            <a:ext cx="284378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20" b="1">
                <a:solidFill>
                  <a:srgbClr val="121826"/>
                </a:solidFill>
                <a:latin typeface="Aptos"/>
              </a:defRPr>
            </a:pPr>
            <a:r>
              <a:t>Incident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5696" y="1837943"/>
            <a:ext cx="2834639" cy="3630168"/>
          </a:xfrm>
          <a:prstGeom prst="rect">
            <a:avLst/>
          </a:prstGeom>
          <a:noFill/>
        </p:spPr>
        <p:txBody>
          <a:bodyPr wrap="square" lIns="0" rIns="45720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Linux App Service plan creation in UK South was blocked by subscription VM quota.</a:t>
            </a:r>
          </a:p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Root cause was regional quota, not model code or schema.</a:t>
            </a:r>
          </a:p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No residents were affected; this was synthetic portfolio telemetry.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90688" y="1325880"/>
            <a:ext cx="3246120" cy="4251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90688" y="1325880"/>
            <a:ext cx="324612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91856" y="1490472"/>
            <a:ext cx="284378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20" b="1">
                <a:solidFill>
                  <a:srgbClr val="121826"/>
                </a:solidFill>
                <a:latin typeface="Aptos"/>
              </a:defRPr>
            </a:pPr>
            <a:r>
              <a:t>Change afterwards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1837943"/>
            <a:ext cx="2834639" cy="3630168"/>
          </a:xfrm>
          <a:prstGeom prst="rect">
            <a:avLst/>
          </a:prstGeom>
          <a:noFill/>
        </p:spPr>
        <p:txBody>
          <a:bodyPr wrap="square" lIns="0" rIns="45720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Used Azure Functions Flex Consumption for the browser API wrapper.</a:t>
            </a:r>
          </a:p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Kept Azure ML behind a governed layer.</a:t>
            </a:r>
          </a:p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Documented fallback hosting path and evidence checks before claiming readiness.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9672"/>
            <a:ext cx="69494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19" b="0">
                <a:solidFill>
                  <a:srgbClr val="6B7280"/>
                </a:solidFill>
                <a:latin typeface="Aptos"/>
              </a:defRPr>
            </a:pPr>
            <a:r>
              <a:t>Service Priority AI | Azure MLOps interview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1967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19" b="0">
                <a:solidFill>
                  <a:srgbClr val="6B7280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029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1">
                <a:solidFill>
                  <a:srgbClr val="E6002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"/>
            <a:ext cx="768096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What I Would Bring To ECC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74980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80" b="0">
                <a:solidFill>
                  <a:srgbClr val="CBD5E1"/>
                </a:solidFill>
                <a:latin typeface="Aptos"/>
              </a:defRPr>
            </a:pPr>
            <a:r>
              <a:t>Azure-native delivery with responsible AI controls by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11173968" cy="13716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5120640" cy="2743200"/>
          </a:xfrm>
          <a:prstGeom prst="rect">
            <a:avLst/>
          </a:prstGeom>
          <a:noFill/>
        </p:spPr>
        <p:txBody>
          <a:bodyPr wrap="square" lIns="0" rIns="45720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Move experiments into governed Azure ML pipelines and model promotion gates.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Deploy through managed online endpoints, batch endpoints, and supportable API boundaries.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Work with Information Governance before real data: DPIA, UK GDPR, access control, retention, and audit.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Coach analysts and data scientists on reproducible, testable MLOps workflows.</a:t>
            </a:r>
          </a:p>
          <a:p>
            <a:pPr>
              <a:spcAft>
                <a:spcPts val="6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Surface monitoring through Power BI-ready outputs that service owners can actually 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417320"/>
            <a:ext cx="4343400" cy="24231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84848" y="1810512"/>
            <a:ext cx="3657600" cy="1417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Deployment is not just getting a model behind an endpoint. It is making it reproducible, explainable, monitored, governed, and safe to challenge.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4187952"/>
            <a:ext cx="4343400" cy="129844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4187952"/>
            <a:ext cx="4343400" cy="36576"/>
          </a:xfrm>
          <a:prstGeom prst="rect">
            <a:avLst/>
          </a:prstGeom>
          <a:solidFill>
            <a:srgbClr val="E6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4352544"/>
            <a:ext cx="3941063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20" b="1">
                <a:solidFill>
                  <a:srgbClr val="121826"/>
                </a:solidFill>
                <a:latin typeface="Aptos"/>
              </a:defRPr>
            </a:pPr>
            <a:r>
              <a:t>LLM use disclosure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4700016"/>
            <a:ext cx="3931920" cy="676655"/>
          </a:xfrm>
          <a:prstGeom prst="rect">
            <a:avLst/>
          </a:prstGeom>
          <a:noFill/>
        </p:spPr>
        <p:txBody>
          <a:bodyPr wrap="square" lIns="0" rIns="45720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I used an AI assistant to structure and polish the deck.</a:t>
            </a:r>
          </a:p>
          <a:p>
            <a:pPr>
              <a:spcAft>
                <a:spcPts val="300"/>
              </a:spcAft>
              <a:defRPr sz="1150">
                <a:solidFill>
                  <a:srgbClr val="4B5563"/>
                </a:solidFill>
                <a:latin typeface="Aptos"/>
              </a:defRPr>
            </a:pPr>
            <a:r>
              <a:t>I verified the content against repository artifacts, model metrics, Azure notes, and screenshots from the running website.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9672"/>
            <a:ext cx="69494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19" b="0">
                <a:solidFill>
                  <a:srgbClr val="CBD5E1"/>
                </a:solidFill>
                <a:latin typeface="Aptos"/>
              </a:defRPr>
            </a:pPr>
            <a:r>
              <a:t>Service Priority AI | Azure MLOps interview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19672"/>
            <a:ext cx="502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19" b="0">
                <a:solidFill>
                  <a:srgbClr val="CBD5E1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